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3" r:id="rId4"/>
  </p:sldMasterIdLst>
  <p:notesMasterIdLst>
    <p:notesMasterId r:id="rId8"/>
  </p:notesMasterIdLst>
  <p:handoutMasterIdLst>
    <p:handoutMasterId r:id="rId9"/>
  </p:handoutMasterIdLst>
  <p:sldIdLst>
    <p:sldId id="4176" r:id="rId5"/>
    <p:sldId id="2147479031" r:id="rId6"/>
    <p:sldId id="2147479032" r:id="rId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FFFFFF"/>
    <a:srgbClr val="92D050"/>
    <a:srgbClr val="00163E"/>
    <a:srgbClr val="00285A"/>
    <a:srgbClr val="000864"/>
    <a:srgbClr val="2872C5"/>
    <a:srgbClr val="00C7FD"/>
    <a:srgbClr val="0068B5"/>
    <a:srgbClr val="004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D2C19-1D9B-4332-9ABD-F8326F1BB337}" v="8" dt="2026-07-21T21:41:38.7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Nunez, Luisalberto" userId="014ff526-306e-4186-85a2-18bfa2fedba8" providerId="ADAL" clId="{2ABBC077-1202-48EC-B942-9FCCD8DDB0EA}"/>
    <pc:docChg chg="undo custSel addSld delSld modSld delMainMaster">
      <pc:chgData name="Murillo Nunez, Luisalberto" userId="014ff526-306e-4186-85a2-18bfa2fedba8" providerId="ADAL" clId="{2ABBC077-1202-48EC-B942-9FCCD8DDB0EA}" dt="2026-07-21T21:44:41.566" v="3091" actId="6549"/>
      <pc:docMkLst>
        <pc:docMk/>
      </pc:docMkLst>
      <pc:sldChg chg="addSp delSp modSp mod">
        <pc:chgData name="Murillo Nunez, Luisalberto" userId="014ff526-306e-4186-85a2-18bfa2fedba8" providerId="ADAL" clId="{2ABBC077-1202-48EC-B942-9FCCD8DDB0EA}" dt="2026-07-21T21:44:41.566" v="3091" actId="6549"/>
        <pc:sldMkLst>
          <pc:docMk/>
          <pc:sldMk cId="1205424577" sldId="2147479031"/>
        </pc:sldMkLst>
        <pc:spChg chg="mod">
          <ac:chgData name="Murillo Nunez, Luisalberto" userId="014ff526-306e-4186-85a2-18bfa2fedba8" providerId="ADAL" clId="{2ABBC077-1202-48EC-B942-9FCCD8DDB0EA}" dt="2026-07-21T21:44:41.566" v="3091" actId="6549"/>
          <ac:spMkLst>
            <pc:docMk/>
            <pc:sldMk cId="1205424577" sldId="2147479031"/>
            <ac:spMk id="36" creationId="{99859DD2-24C6-02A1-4DE5-177D3819920F}"/>
          </ac:spMkLst>
        </pc:spChg>
        <pc:spChg chg="mod">
          <ac:chgData name="Murillo Nunez, Luisalberto" userId="014ff526-306e-4186-85a2-18bfa2fedba8" providerId="ADAL" clId="{2ABBC077-1202-48EC-B942-9FCCD8DDB0EA}" dt="2026-07-21T21:38:18.442" v="2861" actId="20577"/>
          <ac:spMkLst>
            <pc:docMk/>
            <pc:sldMk cId="1205424577" sldId="2147479031"/>
            <ac:spMk id="57" creationId="{A1B53866-B716-9BEB-C7C0-F2B817EE2687}"/>
          </ac:spMkLst>
        </pc:spChg>
        <pc:spChg chg="mod">
          <ac:chgData name="Murillo Nunez, Luisalberto" userId="014ff526-306e-4186-85a2-18bfa2fedba8" providerId="ADAL" clId="{2ABBC077-1202-48EC-B942-9FCCD8DDB0EA}" dt="2026-07-21T21:35:54.336" v="2856" actId="404"/>
          <ac:spMkLst>
            <pc:docMk/>
            <pc:sldMk cId="1205424577" sldId="2147479031"/>
            <ac:spMk id="76" creationId="{152B809B-4999-D370-569B-538B9A4AD219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4:57.019" v="2559" actId="478"/>
          <ac:graphicFrameMkLst>
            <pc:docMk/>
            <pc:sldMk cId="1205424577" sldId="2147479031"/>
            <ac:graphicFrameMk id="7" creationId="{3FF166A1-F116-60A7-35C6-6CA15B898703}"/>
          </ac:graphicFrameMkLst>
        </pc:graphicFrameChg>
      </pc:sldChg>
      <pc:sldChg chg="addSp delSp modSp new mod">
        <pc:chgData name="Murillo Nunez, Luisalberto" userId="014ff526-306e-4186-85a2-18bfa2fedba8" providerId="ADAL" clId="{2ABBC077-1202-48EC-B942-9FCCD8DDB0EA}" dt="2026-07-21T21:32:57.786" v="2844" actId="179"/>
        <pc:sldMkLst>
          <pc:docMk/>
          <pc:sldMk cId="3278280256" sldId="2147479032"/>
        </pc:sldMkLst>
        <pc:spChg chg="del">
          <ac:chgData name="Murillo Nunez, Luisalberto" userId="014ff526-306e-4186-85a2-18bfa2fedba8" providerId="ADAL" clId="{2ABBC077-1202-48EC-B942-9FCCD8DDB0EA}" dt="2026-07-21T21:29:51.344" v="2635" actId="478"/>
          <ac:spMkLst>
            <pc:docMk/>
            <pc:sldMk cId="3278280256" sldId="2147479032"/>
            <ac:spMk id="2" creationId="{730B210F-E258-108C-E3AF-761CB40F4128}"/>
          </ac:spMkLst>
        </pc:spChg>
        <pc:spChg chg="add mod">
          <ac:chgData name="Murillo Nunez, Luisalberto" userId="014ff526-306e-4186-85a2-18bfa2fedba8" providerId="ADAL" clId="{2ABBC077-1202-48EC-B942-9FCCD8DDB0EA}" dt="2026-07-21T21:32:57.786" v="2844" actId="179"/>
          <ac:spMkLst>
            <pc:docMk/>
            <pc:sldMk cId="3278280256" sldId="2147479032"/>
            <ac:spMk id="4" creationId="{AA60A97D-29FC-D4CB-4AA1-1DDB5203BBF7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9:42.326" v="2633" actId="478"/>
          <ac:graphicFrameMkLst>
            <pc:docMk/>
            <pc:sldMk cId="3278280256" sldId="2147479032"/>
            <ac:graphicFrameMk id="3" creationId="{C7463D02-B504-8A40-C5BA-971AF27DCE5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0AB7-141C-9DD2-94C4-DF2616AE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A724B59-D1CA-2404-FD10-A5CC87ED5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39C498-A80C-400E-9BEF-F4184D6334A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E2CCD77F-8010-C049-4A50-A2B1ED21EF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3A5B0-ED20-4C76-9D6B-1693AD379C3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828B2561-DDE7-E648-7082-A68ADD45F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1CF1CC0E-E142-E0AB-CE70-B4765D26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44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FC583A-D4AF-2547-6DBE-33EB57769882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4" name="Rectangle"/>
          <p:cNvSpPr/>
          <p:nvPr userDrawn="1"/>
        </p:nvSpPr>
        <p:spPr>
          <a:xfrm>
            <a:off x="1406103" y="1530399"/>
            <a:ext cx="9340234" cy="37914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759948" y="2793260"/>
            <a:ext cx="8620185" cy="1956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6676" y="2411084"/>
            <a:ext cx="8620125" cy="30480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00C7FD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59948" y="4799255"/>
            <a:ext cx="8620185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IntelOne Display Regular Subhead, Date, Etc.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05E9B2-E6D2-4605-9DB3-41682648B795}"/>
              </a:ext>
            </a:extLst>
          </p:cNvPr>
          <p:cNvGrpSpPr/>
          <p:nvPr userDrawn="1"/>
        </p:nvGrpSpPr>
        <p:grpSpPr>
          <a:xfrm>
            <a:off x="513763" y="4883376"/>
            <a:ext cx="1952093" cy="1440046"/>
            <a:chOff x="576067" y="4952474"/>
            <a:chExt cx="1952093" cy="1440046"/>
          </a:xfrm>
        </p:grpSpPr>
        <p:sp>
          <p:nvSpPr>
            <p:cNvPr id="80" name="Square"/>
            <p:cNvSpPr/>
            <p:nvPr/>
          </p:nvSpPr>
          <p:spPr>
            <a:xfrm>
              <a:off x="861107" y="5390896"/>
              <a:ext cx="607299" cy="607299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1" name="Rectangle"/>
            <p:cNvSpPr/>
            <p:nvPr/>
          </p:nvSpPr>
          <p:spPr>
            <a:xfrm>
              <a:off x="576067" y="5108797"/>
              <a:ext cx="286654" cy="282073"/>
            </a:xfrm>
            <a:prstGeom prst="rect">
              <a:avLst/>
            </a:prstGeom>
            <a:solidFill>
              <a:srgbClr val="00C7FD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2" name="Square"/>
            <p:cNvSpPr/>
            <p:nvPr/>
          </p:nvSpPr>
          <p:spPr>
            <a:xfrm>
              <a:off x="861107" y="4952474"/>
              <a:ext cx="157461" cy="15746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98DF977-78B3-4C00-9E43-1223CD667932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F73C8D-05B1-4270-85FA-B1FD37A25A06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C6580CA-6E37-4F04-8FAD-D6491FEE8CE6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C614C49-972F-498A-9654-844CECF9AF64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2EBBE0-933B-4A65-BAAC-DC5972E3F9A4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868C62E-6CE4-4259-A07A-FD2952F70C84}"/>
              </a:ext>
            </a:extLst>
          </p:cNvPr>
          <p:cNvSpPr/>
          <p:nvPr userDrawn="1"/>
        </p:nvSpPr>
        <p:spPr>
          <a:xfrm>
            <a:off x="1772882" y="1823195"/>
            <a:ext cx="3004653" cy="5456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</a:t>
            </a:r>
            <a:b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</a:b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421110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99B93-608C-3338-4BC3-A9A3079F46FE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89643" y="2941068"/>
            <a:ext cx="9991725" cy="198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2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02517" y="4984763"/>
            <a:ext cx="9991726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One Display Regular Subhead, Date, Etc.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D6EF6-61F8-4957-AA1C-7C6450109576}"/>
              </a:ext>
            </a:extLst>
          </p:cNvPr>
          <p:cNvGrpSpPr/>
          <p:nvPr userDrawn="1"/>
        </p:nvGrpSpPr>
        <p:grpSpPr>
          <a:xfrm>
            <a:off x="1999969" y="1597110"/>
            <a:ext cx="6225039" cy="804533"/>
            <a:chOff x="1824627" y="1701885"/>
            <a:chExt cx="6225039" cy="80453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251DAF-788D-46D0-84B3-34DFEE6262F3}"/>
                </a:ext>
              </a:extLst>
            </p:cNvPr>
            <p:cNvGrpSpPr/>
            <p:nvPr userDrawn="1"/>
          </p:nvGrpSpPr>
          <p:grpSpPr>
            <a:xfrm>
              <a:off x="1824627" y="1784710"/>
              <a:ext cx="1657627" cy="620661"/>
              <a:chOff x="1314450" y="6391094"/>
              <a:chExt cx="1123377" cy="420623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050DF4B-855E-41F4-9B0B-9B0BA01FB4FE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5E76890-19E8-4E79-B88A-5E246700E0DB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94D935-4B06-467E-ACD3-E78CD1B86EE3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3E1BDA4-68F2-4FA3-BD91-CBC85BF15A79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7CB41B-3068-4384-9BC0-40733D6A5379}"/>
                </a:ext>
              </a:extLst>
            </p:cNvPr>
            <p:cNvSpPr/>
            <p:nvPr userDrawn="1"/>
          </p:nvSpPr>
          <p:spPr>
            <a:xfrm>
              <a:off x="3619109" y="1701885"/>
              <a:ext cx="4430557" cy="80453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rmAutofit/>
            </a:bodyPr>
            <a:lstStyle/>
            <a:p>
              <a:pPr lvl="0" defTabSz="609600">
                <a:lnSpc>
                  <a:spcPct val="100000"/>
                </a:lnSpc>
                <a:spcBef>
                  <a:spcPts val="1200"/>
                </a:spcBef>
                <a:buFont typeface="Wingdings" pitchFamily="2" charset="2"/>
              </a:pP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Platform &amp; System</a:t>
              </a:r>
              <a:b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</a:b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Engineering</a:t>
              </a:r>
            </a:p>
          </p:txBody>
        </p:sp>
      </p:grp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60189B9-A381-4FFA-BCA4-79C0FA6982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89643" y="2579898"/>
            <a:ext cx="9991725" cy="298489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</p:spTree>
    <p:extLst>
      <p:ext uri="{BB962C8B-B14F-4D97-AF65-F5344CB8AC3E}">
        <p14:creationId xmlns:p14="http://schemas.microsoft.com/office/powerpoint/2010/main" val="283973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0967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529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43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67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79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3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12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26253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0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412942"/>
            <a:ext cx="11010900" cy="299175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13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6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B1096-12AE-C0AA-0B03-F3ADE18B9B3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10DE7-0AC7-4D5F-8A43-A227318C239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65079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22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D52DEDE-45E8-4299-ACA0-E12DB19D884D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05612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AF703F-9D68-4735-9044-7BFF431B70D7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DDCE6-58AB-15FD-C521-C87E700A07C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500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AFEFBCC-863C-4F43-BF36-580A6B0AB179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04658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AE4B36-5E58-4318-A51C-D48318376856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AF1D4-427B-26FA-B3DD-580A1EC4F508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4423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05527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0976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00A94-27EC-4B60-8F3E-98E15BBD77FB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829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114795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76C3D-4110-ACAA-6EB8-79165A997D4A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26B76-67EA-4B08-86F8-3A1AA8F3D73E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7817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5E1E7-2183-4B5C-97F9-689AAEDB3DF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25F83-DE31-1F93-6B53-BB09B350268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898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0166B-FAA2-43BD-917B-2F079E995FB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21813-E583-ECCB-546B-AF340416826A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2360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CBB7D-7A9A-4CD1-B6FB-25004949C546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6293F-D651-37FF-05E3-CEA624ECDA91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536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AE109-5FFA-4A88-B0E2-9A19A0CF1AA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5F1CE-A600-5EEB-80F5-02A91BDBEB53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680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A3A42-7D6C-4976-ACDF-8C158067C50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030E1-D8FF-EC62-4E45-C8A8D87B471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3390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28D97-1CAF-4C8A-B592-1DF284449B8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5D9A4-98CF-0706-259E-5DA24AA29852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4555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93ADA-DEA0-4FB5-B0D7-C25658A429A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804EB-9380-77E3-6E21-622EF9B739A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72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523195"/>
            <a:ext cx="11172102" cy="289083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A11507-56CF-4CB8-A2E2-2679F0FA12C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5073C-A7A4-AF27-814F-342CFD46355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323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BAFF8-85D5-412A-874A-20B122C0CCB3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DE84A-170D-9ABB-56FC-7EE1DDC54BCC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2325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C2DB3-0597-403F-A15B-A6070E1BBA4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C9E2-1902-AD50-82A9-B2521A35FA8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8481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A1D59B-812E-441B-AE95-39203B1507E8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92101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D3826C-4FFE-4DFC-A1D2-269A5DBFA3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FA57E-B05A-4E39-961D-99F4A71433C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14DC8-5341-4DE0-B053-DD7447C1E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DF363C-67E3-448E-B427-79A50F07FBB8}"/>
              </a:ext>
            </a:extLst>
          </p:cNvPr>
          <p:cNvSpPr/>
          <p:nvPr userDrawn="1"/>
        </p:nvSpPr>
        <p:spPr>
          <a:xfrm>
            <a:off x="-1" y="2583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FF653-9D19-4171-B6D3-D80AEC25F442}"/>
              </a:ext>
            </a:extLst>
          </p:cNvPr>
          <p:cNvSpPr/>
          <p:nvPr userDrawn="1"/>
        </p:nvSpPr>
        <p:spPr>
          <a:xfrm rot="5400000">
            <a:off x="-2978451" y="2997078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F00D4-41A2-4585-8D28-2DB67C609CC9}"/>
              </a:ext>
            </a:extLst>
          </p:cNvPr>
          <p:cNvSpPr/>
          <p:nvPr userDrawn="1"/>
        </p:nvSpPr>
        <p:spPr>
          <a:xfrm rot="5400000">
            <a:off x="8745960" y="2984502"/>
            <a:ext cx="643260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E25AFD-BB81-418C-8ACE-AC966695570D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3DF36A0-5620-454E-8EA8-AE20E521C2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26272" y="1"/>
            <a:ext cx="5365728" cy="68495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2CCB470-72EA-4339-80A9-3F24AEDEE3D7}"/>
              </a:ext>
            </a:extLst>
          </p:cNvPr>
          <p:cNvSpPr/>
          <p:nvPr userDrawn="1"/>
        </p:nvSpPr>
        <p:spPr>
          <a:xfrm>
            <a:off x="-8022" y="6408858"/>
            <a:ext cx="1174282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33D29-86DA-4900-9C91-7D1C3B4B60F2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D6B5C2-42E7-407E-BE78-F2C44FD8D5D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27F3F4-1824-4CFD-910C-E687EA9C088D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AF6BF-0D50-4786-AE0D-AFED389955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48C9A9D-D02A-4F97-A664-2C189CBA3A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13138" y="9516"/>
            <a:ext cx="5370841" cy="685605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8AA7C76-3BA8-49B3-93E9-EE289D99CC60}"/>
              </a:ext>
            </a:extLst>
          </p:cNvPr>
          <p:cNvSpPr/>
          <p:nvPr userDrawn="1"/>
        </p:nvSpPr>
        <p:spPr>
          <a:xfrm>
            <a:off x="-8022" y="6408858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42067-8EA4-41FF-8DE5-10515DAC70E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4E267-96FC-4660-93C6-8711295824C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A4D5D-98F4-42EF-AF69-1ED63E20306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FE700-B748-4666-841A-AF4E723263F1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70349-247D-46CD-9541-906ECD58D63A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FE4C3-8847-47B3-AC6E-874F265B0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EF41E-862D-4063-9A10-35FD4D4BD95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2305D9-A12B-4D85-890C-4165D8F9345F}"/>
              </a:ext>
            </a:extLst>
          </p:cNvPr>
          <p:cNvSpPr/>
          <p:nvPr userDrawn="1"/>
        </p:nvSpPr>
        <p:spPr>
          <a:xfrm>
            <a:off x="-1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11AAA0-22D6-4F26-B68E-8E1910D25DDB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A7BEA6-654E-4B2B-A928-A9A02881AF2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7414E6-5EE9-4933-AA6A-C616C6896CA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90F7DB6-FA5D-AC8E-079F-18F34F65C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" y="0"/>
            <a:ext cx="12172168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9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IntelOne Display Regular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53173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IntelOne Display Medium" panose="020B0703020203020204" pitchFamily="34" charset="0"/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0962C1B-21E4-40F4-808C-D25095B3E6DF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0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349744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59" r:id="rId10"/>
    <p:sldLayoutId id="2147483860" r:id="rId11"/>
    <p:sldLayoutId id="2147483861" r:id="rId12"/>
    <p:sldLayoutId id="2147483865" r:id="rId13"/>
    <p:sldLayoutId id="2147483862" r:id="rId14"/>
    <p:sldLayoutId id="2147483863" r:id="rId15"/>
    <p:sldLayoutId id="2147483868" r:id="rId16"/>
    <p:sldLayoutId id="2147483869" r:id="rId17"/>
    <p:sldLayoutId id="2147483870" r:id="rId18"/>
    <p:sldLayoutId id="2147483871" r:id="rId19"/>
    <p:sldLayoutId id="2147483849" r:id="rId20"/>
    <p:sldLayoutId id="2147483851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914" r:id="rId31"/>
    <p:sldLayoutId id="2147483850" r:id="rId32"/>
    <p:sldLayoutId id="2147483761" r:id="rId33"/>
    <p:sldLayoutId id="2147483746" r:id="rId34"/>
    <p:sldLayoutId id="2147483769" r:id="rId35"/>
    <p:sldLayoutId id="2147483768" r:id="rId36"/>
    <p:sldLayoutId id="2147483770" r:id="rId37"/>
    <p:sldLayoutId id="2147483771" r:id="rId38"/>
    <p:sldLayoutId id="2147483858" r:id="rId39"/>
    <p:sldLayoutId id="214748396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2"/>
          </a:solidFill>
          <a:uFillTx/>
          <a:latin typeface="+mj-lt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43" y="2669402"/>
            <a:ext cx="9991725" cy="1981014"/>
          </a:xfrm>
        </p:spPr>
        <p:txBody>
          <a:bodyPr/>
          <a:lstStyle/>
          <a:p>
            <a:r>
              <a:rPr lang="en-US"/>
              <a:t>DHE Product Execution Forum</a:t>
            </a:r>
            <a:br>
              <a:rPr lang="en-US"/>
            </a:b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02517" y="4984762"/>
            <a:ext cx="9991726" cy="1172197"/>
          </a:xfrm>
        </p:spPr>
        <p:txBody>
          <a:bodyPr>
            <a:normAutofit/>
          </a:bodyPr>
          <a:lstStyle/>
          <a:p>
            <a:r>
              <a:rPr lang="en-US" dirty="0"/>
              <a:t>OKS-AP</a:t>
            </a:r>
          </a:p>
          <a:p>
            <a:r>
              <a:rPr lang="en-US" dirty="0"/>
              <a:t>WW25’26</a:t>
            </a:r>
          </a:p>
        </p:txBody>
      </p:sp>
    </p:spTree>
    <p:extLst>
      <p:ext uri="{BB962C8B-B14F-4D97-AF65-F5344CB8AC3E}">
        <p14:creationId xmlns:p14="http://schemas.microsoft.com/office/powerpoint/2010/main" val="220814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22A7-8663-0743-3DC1-A3999E91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1E46B9-7B3D-82E2-1440-B0E4C7D07DA4}"/>
              </a:ext>
            </a:extLst>
          </p:cNvPr>
          <p:cNvGrpSpPr/>
          <p:nvPr/>
        </p:nvGrpSpPr>
        <p:grpSpPr>
          <a:xfrm>
            <a:off x="528541" y="553964"/>
            <a:ext cx="10126983" cy="423690"/>
            <a:chOff x="1052186" y="868329"/>
            <a:chExt cx="10126983" cy="463172"/>
          </a:xfrm>
        </p:grpSpPr>
        <p:sp>
          <p:nvSpPr>
            <p:cNvPr id="4" name="TextBox 89">
              <a:extLst>
                <a:ext uri="{FF2B5EF4-FFF2-40B4-BE49-F238E27FC236}">
                  <a16:creationId xmlns:a16="http://schemas.microsoft.com/office/drawing/2014/main" id="{FF559DF4-F2CA-7AEC-12EC-B50D8C0125F8}"/>
                </a:ext>
              </a:extLst>
            </p:cNvPr>
            <p:cNvSpPr txBox="1"/>
            <p:nvPr/>
          </p:nvSpPr>
          <p:spPr>
            <a:xfrm>
              <a:off x="5550125" y="964452"/>
              <a:ext cx="1014468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 Pre-PO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A028CE2-C9CB-91E6-50FA-118E4CABD130}"/>
                </a:ext>
              </a:extLst>
            </p:cNvPr>
            <p:cNvCxnSpPr>
              <a:cxnSpLocks/>
              <a:stCxn id="51" idx="1"/>
            </p:cNvCxnSpPr>
            <p:nvPr/>
          </p:nvCxnSpPr>
          <p:spPr>
            <a:xfrm>
              <a:off x="1130207" y="962310"/>
              <a:ext cx="9656450" cy="5327"/>
            </a:xfrm>
            <a:prstGeom prst="line">
              <a:avLst/>
            </a:prstGeom>
            <a:noFill/>
            <a:ln w="25400" cap="sq" cmpd="sng" algn="ctr">
              <a:gradFill flip="none" rotWithShape="1">
                <a:gsLst>
                  <a:gs pos="99000">
                    <a:srgbClr val="000000"/>
                  </a:gs>
                  <a:gs pos="0">
                    <a:srgbClr val="000000">
                      <a:alpha val="0"/>
                    </a:srgbClr>
                  </a:gs>
                  <a:gs pos="18975">
                    <a:srgbClr val="000000"/>
                  </a:gs>
                  <a:gs pos="75000">
                    <a:srgbClr val="000000"/>
                  </a:gs>
                </a:gsLst>
                <a:lin ang="0" scaled="1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45980F-C723-929C-8B41-2E2104963388}"/>
                </a:ext>
              </a:extLst>
            </p:cNvPr>
            <p:cNvSpPr txBox="1"/>
            <p:nvPr/>
          </p:nvSpPr>
          <p:spPr>
            <a:xfrm>
              <a:off x="10410274" y="1047700"/>
              <a:ext cx="768895" cy="2209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 defTabSz="9144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700" b="1" kern="1200">
                  <a:latin typeface="Intel Clear"/>
                </a:rPr>
                <a:t>PRQ - PV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E72247-E0C6-7D5A-AA9B-840F3FCCEC3D}"/>
                </a:ext>
              </a:extLst>
            </p:cNvPr>
            <p:cNvGrpSpPr/>
            <p:nvPr/>
          </p:nvGrpSpPr>
          <p:grpSpPr>
            <a:xfrm>
              <a:off x="1995307" y="874186"/>
              <a:ext cx="153341" cy="153340"/>
              <a:chOff x="4218642" y="3179954"/>
              <a:chExt cx="153341" cy="15334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41B9784-1F5D-9CFD-CAD3-14C1472F9840}"/>
                  </a:ext>
                </a:extLst>
              </p:cNvPr>
              <p:cNvSpPr/>
              <p:nvPr/>
            </p:nvSpPr>
            <p:spPr>
              <a:xfrm>
                <a:off x="4218642" y="3179954"/>
                <a:ext cx="153341" cy="153340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61B86ECE-7824-12C6-245B-D8D12D7FF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6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37D5AF-0DC2-8783-21C4-D7AE1D1895FE}"/>
                </a:ext>
              </a:extLst>
            </p:cNvPr>
            <p:cNvGrpSpPr/>
            <p:nvPr/>
          </p:nvGrpSpPr>
          <p:grpSpPr>
            <a:xfrm>
              <a:off x="1111782" y="884398"/>
              <a:ext cx="153341" cy="153341"/>
              <a:chOff x="4218642" y="3179954"/>
              <a:chExt cx="153341" cy="153342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F15B018-41EB-78C9-BA2D-51D18690E3BA}"/>
                  </a:ext>
                </a:extLst>
              </p:cNvPr>
              <p:cNvSpPr/>
              <p:nvPr/>
            </p:nvSpPr>
            <p:spPr>
              <a:xfrm>
                <a:off x="4218642" y="3179954"/>
                <a:ext cx="153341" cy="153342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700A5AB8-3F59-E139-F283-0FBCA3B1E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326834-6B62-4668-208B-85A2CB665BC7}"/>
                </a:ext>
              </a:extLst>
            </p:cNvPr>
            <p:cNvGrpSpPr/>
            <p:nvPr/>
          </p:nvGrpSpPr>
          <p:grpSpPr>
            <a:xfrm>
              <a:off x="2881659" y="872247"/>
              <a:ext cx="153341" cy="153341"/>
              <a:chOff x="4218642" y="3179953"/>
              <a:chExt cx="153341" cy="153342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C588BB6-2907-882A-F7A0-DAEAD7E0AD60}"/>
                  </a:ext>
                </a:extLst>
              </p:cNvPr>
              <p:cNvSpPr/>
              <p:nvPr/>
            </p:nvSpPr>
            <p:spPr>
              <a:xfrm>
                <a:off x="4218642" y="3179953"/>
                <a:ext cx="153341" cy="153342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DCB8E618-180C-C05D-49DA-DBA2C597A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sp>
          <p:nvSpPr>
            <p:cNvPr id="11" name="TextBox 30">
              <a:extLst>
                <a:ext uri="{FF2B5EF4-FFF2-40B4-BE49-F238E27FC236}">
                  <a16:creationId xmlns:a16="http://schemas.microsoft.com/office/drawing/2014/main" id="{80324B56-5D8F-2F6F-0A86-6D5F45F05850}"/>
                </a:ext>
              </a:extLst>
            </p:cNvPr>
            <p:cNvSpPr txBox="1"/>
            <p:nvPr/>
          </p:nvSpPr>
          <p:spPr>
            <a:xfrm>
              <a:off x="4484665" y="999918"/>
              <a:ext cx="612285" cy="1942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latin typeface="Intel Clear"/>
                  <a:ea typeface="+mn-ea"/>
                  <a:cs typeface="+mn-cs"/>
                </a:rPr>
                <a:t>ERB TO</a:t>
              </a:r>
            </a:p>
          </p:txBody>
        </p:sp>
        <p:sp>
          <p:nvSpPr>
            <p:cNvPr id="12" name="TextBox 31">
              <a:extLst>
                <a:ext uri="{FF2B5EF4-FFF2-40B4-BE49-F238E27FC236}">
                  <a16:creationId xmlns:a16="http://schemas.microsoft.com/office/drawing/2014/main" id="{2DF61504-568A-F2AD-C401-CB31E3F53B9C}"/>
                </a:ext>
              </a:extLst>
            </p:cNvPr>
            <p:cNvSpPr txBox="1"/>
            <p:nvPr/>
          </p:nvSpPr>
          <p:spPr>
            <a:xfrm>
              <a:off x="5092341" y="1007572"/>
              <a:ext cx="613862" cy="1948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latin typeface="Intel Clear"/>
                  <a:ea typeface="+mn-ea"/>
                  <a:cs typeface="+mn-cs"/>
                </a:rPr>
                <a:t>POB</a:t>
              </a: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One Display Regular" panose="020B05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 Neue"/>
                </a:rPr>
                <a:t> </a:t>
              </a:r>
              <a:r>
                <a:rPr lang="en-US" sz="700" b="1" kern="1200">
                  <a:latin typeface="Intel Clear"/>
                  <a:ea typeface="+mn-ea"/>
                  <a:cs typeface="+mn-cs"/>
                </a:rPr>
                <a:t>TO</a:t>
              </a:r>
            </a:p>
          </p:txBody>
        </p:sp>
        <p:sp>
          <p:nvSpPr>
            <p:cNvPr id="13" name="TextBox 54">
              <a:extLst>
                <a:ext uri="{FF2B5EF4-FFF2-40B4-BE49-F238E27FC236}">
                  <a16:creationId xmlns:a16="http://schemas.microsoft.com/office/drawing/2014/main" id="{30DB6C98-9BA6-DA35-6635-E68DDF35C14E}"/>
                </a:ext>
              </a:extLst>
            </p:cNvPr>
            <p:cNvSpPr txBox="1"/>
            <p:nvPr/>
          </p:nvSpPr>
          <p:spPr>
            <a:xfrm>
              <a:off x="2782555" y="996766"/>
              <a:ext cx="31611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 EC</a:t>
              </a:r>
            </a:p>
          </p:txBody>
        </p:sp>
        <p:sp>
          <p:nvSpPr>
            <p:cNvPr id="14" name="TextBox 55">
              <a:extLst>
                <a:ext uri="{FF2B5EF4-FFF2-40B4-BE49-F238E27FC236}">
                  <a16:creationId xmlns:a16="http://schemas.microsoft.com/office/drawing/2014/main" id="{732FA94A-F85A-F90C-C7E9-FD182AEFCCBF}"/>
                </a:ext>
              </a:extLst>
            </p:cNvPr>
            <p:cNvSpPr txBox="1"/>
            <p:nvPr/>
          </p:nvSpPr>
          <p:spPr>
            <a:xfrm>
              <a:off x="6421437" y="956276"/>
              <a:ext cx="833092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Power-On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509C7956-F956-43CD-3CE8-368C22B9CF5E}"/>
                </a:ext>
              </a:extLst>
            </p:cNvPr>
            <p:cNvSpPr txBox="1"/>
            <p:nvPr/>
          </p:nvSpPr>
          <p:spPr>
            <a:xfrm>
              <a:off x="1052186" y="992879"/>
              <a:ext cx="30008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PK</a:t>
              </a:r>
            </a:p>
          </p:txBody>
        </p:sp>
        <p:sp>
          <p:nvSpPr>
            <p:cNvPr id="16" name="TextBox 57">
              <a:extLst>
                <a:ext uri="{FF2B5EF4-FFF2-40B4-BE49-F238E27FC236}">
                  <a16:creationId xmlns:a16="http://schemas.microsoft.com/office/drawing/2014/main" id="{D7CDEC3A-1346-F819-DD8D-2FD810DB66A9}"/>
                </a:ext>
              </a:extLst>
            </p:cNvPr>
            <p:cNvSpPr txBox="1"/>
            <p:nvPr/>
          </p:nvSpPr>
          <p:spPr>
            <a:xfrm>
              <a:off x="7396655" y="995043"/>
              <a:ext cx="923986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Volume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Deploy Entry</a:t>
              </a:r>
            </a:p>
          </p:txBody>
        </p:sp>
        <p:sp>
          <p:nvSpPr>
            <p:cNvPr id="17" name="TextBox 58">
              <a:extLst>
                <a:ext uri="{FF2B5EF4-FFF2-40B4-BE49-F238E27FC236}">
                  <a16:creationId xmlns:a16="http://schemas.microsoft.com/office/drawing/2014/main" id="{6469581D-3F23-D318-5468-9B4B3279F8C4}"/>
                </a:ext>
              </a:extLst>
            </p:cNvPr>
            <p:cNvSpPr txBox="1"/>
            <p:nvPr/>
          </p:nvSpPr>
          <p:spPr>
            <a:xfrm>
              <a:off x="9805272" y="924673"/>
              <a:ext cx="494046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Sunset </a:t>
              </a:r>
            </a:p>
          </p:txBody>
        </p:sp>
        <p:sp>
          <p:nvSpPr>
            <p:cNvPr id="18" name="TextBox 59">
              <a:extLst>
                <a:ext uri="{FF2B5EF4-FFF2-40B4-BE49-F238E27FC236}">
                  <a16:creationId xmlns:a16="http://schemas.microsoft.com/office/drawing/2014/main" id="{4FA7DCFC-21E9-2636-4D4A-D0D2F59CE8C5}"/>
                </a:ext>
              </a:extLst>
            </p:cNvPr>
            <p:cNvSpPr txBox="1"/>
            <p:nvPr/>
          </p:nvSpPr>
          <p:spPr>
            <a:xfrm>
              <a:off x="1923300" y="994183"/>
              <a:ext cx="296876" cy="218698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PC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</a:endParaRPr>
            </a:p>
          </p:txBody>
        </p:sp>
        <p:sp>
          <p:nvSpPr>
            <p:cNvPr id="19" name="TextBox 60">
              <a:extLst>
                <a:ext uri="{FF2B5EF4-FFF2-40B4-BE49-F238E27FC236}">
                  <a16:creationId xmlns:a16="http://schemas.microsoft.com/office/drawing/2014/main" id="{9623F385-C73F-4BED-4A9B-6C343DD9A14E}"/>
                </a:ext>
              </a:extLst>
            </p:cNvPr>
            <p:cNvSpPr txBox="1"/>
            <p:nvPr/>
          </p:nvSpPr>
          <p:spPr>
            <a:xfrm>
              <a:off x="8871632" y="868329"/>
              <a:ext cx="588623" cy="4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Alpha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Be-Ready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50D4B2E-599D-279B-2DCD-734FAF9DB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04340" y="8989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05B4D02-E4E9-42E2-E10A-D13323D37C60}"/>
                </a:ext>
              </a:extLst>
            </p:cNvPr>
            <p:cNvGrpSpPr/>
            <p:nvPr/>
          </p:nvGrpSpPr>
          <p:grpSpPr>
            <a:xfrm>
              <a:off x="4660109" y="883629"/>
              <a:ext cx="153341" cy="153340"/>
              <a:chOff x="4218642" y="3179954"/>
              <a:chExt cx="153341" cy="15334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D3C6001-4492-897F-0894-63495C6E5BE6}"/>
                  </a:ext>
                </a:extLst>
              </p:cNvPr>
              <p:cNvSpPr/>
              <p:nvPr/>
            </p:nvSpPr>
            <p:spPr>
              <a:xfrm>
                <a:off x="4218642" y="3179954"/>
                <a:ext cx="153341" cy="153340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C0D840C3-C13A-11FC-68DC-B186E13EA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1F28332-829D-24A0-FA0F-6599928B093D}"/>
                </a:ext>
              </a:extLst>
            </p:cNvPr>
            <p:cNvGrpSpPr/>
            <p:nvPr/>
          </p:nvGrpSpPr>
          <p:grpSpPr>
            <a:xfrm>
              <a:off x="3771382" y="883695"/>
              <a:ext cx="153341" cy="153340"/>
              <a:chOff x="4218642" y="3179954"/>
              <a:chExt cx="153341" cy="15334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ADFD815-71E0-DCFF-0CC2-A1706221946B}"/>
                  </a:ext>
                </a:extLst>
              </p:cNvPr>
              <p:cNvSpPr/>
              <p:nvPr/>
            </p:nvSpPr>
            <p:spPr>
              <a:xfrm>
                <a:off x="4218642" y="3179954"/>
                <a:ext cx="153341" cy="153340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75A5A3E-2B2B-E384-24B7-F18BD3BB4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CF6F8A8-B9B1-2D76-26DE-EE4AAC31F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14523" y="9130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4C53022-44E1-B5ED-0416-8FE50254D45E}"/>
                </a:ext>
              </a:extLst>
            </p:cNvPr>
            <p:cNvGrpSpPr/>
            <p:nvPr/>
          </p:nvGrpSpPr>
          <p:grpSpPr>
            <a:xfrm>
              <a:off x="9089274" y="870268"/>
              <a:ext cx="153341" cy="153340"/>
              <a:chOff x="4218642" y="3179955"/>
              <a:chExt cx="153341" cy="15334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6702CEE-A239-AF83-7B4F-CBAD4A00D0CB}"/>
                  </a:ext>
                </a:extLst>
              </p:cNvPr>
              <p:cNvSpPr/>
              <p:nvPr/>
            </p:nvSpPr>
            <p:spPr>
              <a:xfrm>
                <a:off x="4218642" y="3179955"/>
                <a:ext cx="153341" cy="153340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4A88E09-7DB8-BF67-B6C5-513A54C07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E9D13EF-9A41-5380-8559-C31F50604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815767" y="892703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B0FA27A-D060-6AE4-AC4C-FAA1A148E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84611" y="892704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0EEA6A1-65CD-9A8C-8B3C-9C4498012888}"/>
                </a:ext>
              </a:extLst>
            </p:cNvPr>
            <p:cNvGrpSpPr/>
            <p:nvPr/>
          </p:nvGrpSpPr>
          <p:grpSpPr>
            <a:xfrm>
              <a:off x="9975626" y="868330"/>
              <a:ext cx="153341" cy="153341"/>
              <a:chOff x="4218642" y="3179954"/>
              <a:chExt cx="153341" cy="153342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E50FCE8-DB80-73DC-01A8-7793CF1344D2}"/>
                  </a:ext>
                </a:extLst>
              </p:cNvPr>
              <p:cNvSpPr/>
              <p:nvPr/>
            </p:nvSpPr>
            <p:spPr>
              <a:xfrm>
                <a:off x="4218642" y="3179954"/>
                <a:ext cx="153341" cy="153342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6D8203E-A455-32E4-FDAF-B60D7BE39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C8C031E-552D-2CC0-B9E2-7C5CD17D7FB8}"/>
                </a:ext>
              </a:extLst>
            </p:cNvPr>
            <p:cNvGrpSpPr/>
            <p:nvPr/>
          </p:nvGrpSpPr>
          <p:grpSpPr>
            <a:xfrm>
              <a:off x="10718052" y="874984"/>
              <a:ext cx="153341" cy="153340"/>
              <a:chOff x="4218642" y="3179955"/>
              <a:chExt cx="153341" cy="15334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C408B6D-6B8B-67C7-002B-B959E5D2F22E}"/>
                  </a:ext>
                </a:extLst>
              </p:cNvPr>
              <p:cNvSpPr/>
              <p:nvPr/>
            </p:nvSpPr>
            <p:spPr>
              <a:xfrm>
                <a:off x="4218642" y="3179955"/>
                <a:ext cx="153341" cy="153340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txBody>
              <a:bodyPr rot="0" spcFirstLastPara="1" vert="horz" wrap="square" lIns="45718" tIns="45718" rIns="45718" bIns="45718" numCol="1" spcCol="38100" rtlCol="0" anchor="ctr">
                <a:spAutoFit/>
              </a:bodyPr>
              <a:lstStyle>
                <a:defPPr marL="0" marR="0" indent="0" algn="l" defTabSz="457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9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0" algn="l" defTabSz="1219169" rtl="0" fontAlgn="auto" latinLnBrk="0" hangingPunct="0">
                  <a:lnSpc>
                    <a:spcPct val="90000"/>
                  </a:lnSpc>
                  <a:spcBef>
                    <a:spcPts val="22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marR="0" lvl="0" indent="0" algn="l" defTabSz="161264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6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  <a:sym typeface="Helvetica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D67AA89-9858-0664-6DFC-867717083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7067" y="3198473"/>
                <a:ext cx="118785" cy="118785"/>
              </a:xfrm>
              <a:prstGeom prst="rect">
                <a:avLst/>
              </a:prstGeom>
              <a:effectLst>
                <a:glow rad="63500">
                  <a:srgbClr val="5B9BD5">
                    <a:satMod val="175000"/>
                    <a:alpha val="18000"/>
                  </a:srgbClr>
                </a:glow>
              </a:effectLst>
            </p:spPr>
          </p:pic>
        </p:grpSp>
        <p:sp>
          <p:nvSpPr>
            <p:cNvPr id="29" name="TextBox 90">
              <a:extLst>
                <a:ext uri="{FF2B5EF4-FFF2-40B4-BE49-F238E27FC236}">
                  <a16:creationId xmlns:a16="http://schemas.microsoft.com/office/drawing/2014/main" id="{ED4F2519-7344-174D-AE1F-306C77D6C5C6}"/>
                </a:ext>
              </a:extLst>
            </p:cNvPr>
            <p:cNvSpPr txBox="1"/>
            <p:nvPr/>
          </p:nvSpPr>
          <p:spPr>
            <a:xfrm>
              <a:off x="3486341" y="977054"/>
              <a:ext cx="668773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Mid-Design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l Clear"/>
                </a:rPr>
                <a:t>(0.5)</a:t>
              </a:r>
            </a:p>
          </p:txBody>
        </p:sp>
      </p:grp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747D810F-9426-5970-BDFC-868C57A076EC}"/>
              </a:ext>
            </a:extLst>
          </p:cNvPr>
          <p:cNvSpPr/>
          <p:nvPr/>
        </p:nvSpPr>
        <p:spPr>
          <a:xfrm>
            <a:off x="8821439" y="480860"/>
            <a:ext cx="240063" cy="237185"/>
          </a:xfrm>
          <a:prstGeom prst="star5">
            <a:avLst/>
          </a:prstGeom>
          <a:solidFill>
            <a:srgbClr val="00B050"/>
          </a:solidFill>
          <a:ln w="12700" cap="flat">
            <a:solidFill>
              <a:srgbClr val="0070C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A1B53866-B716-9BEB-C7C0-F2B817EE2687}"/>
              </a:ext>
            </a:extLst>
          </p:cNvPr>
          <p:cNvSpPr>
            <a:spLocks noGrp="1"/>
          </p:cNvSpPr>
          <p:nvPr/>
        </p:nvSpPr>
        <p:spPr>
          <a:xfrm>
            <a:off x="182206" y="-12864"/>
            <a:ext cx="6530210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200" dirty="0"/>
              <a:t>Platform Dashboard –WW30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9BB02BB6-F385-5265-A3AB-2251EA1692C7}"/>
              </a:ext>
            </a:extLst>
          </p:cNvPr>
          <p:cNvSpPr>
            <a:spLocks noGrp="1"/>
          </p:cNvSpPr>
          <p:nvPr/>
        </p:nvSpPr>
        <p:spPr>
          <a:xfrm>
            <a:off x="6423739" y="-18847"/>
            <a:ext cx="4231785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200"/>
              <a:t>Oak Stream – AP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53C8AE-AC27-32B4-611A-B5E93CE7C071}"/>
              </a:ext>
            </a:extLst>
          </p:cNvPr>
          <p:cNvSpPr txBox="1"/>
          <p:nvPr/>
        </p:nvSpPr>
        <p:spPr>
          <a:xfrm>
            <a:off x="5944887" y="408874"/>
            <a:ext cx="691215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WW33 ‘25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1023AE-81D6-DA7A-E7BD-F4464D9CA53E}"/>
              </a:ext>
            </a:extLst>
          </p:cNvPr>
          <p:cNvSpPr txBox="1"/>
          <p:nvPr/>
        </p:nvSpPr>
        <p:spPr>
          <a:xfrm>
            <a:off x="5181361" y="395692"/>
            <a:ext cx="611065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WW11‘25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C44E16-BB51-162F-38E8-ACDCB92B68DD}"/>
              </a:ext>
            </a:extLst>
          </p:cNvPr>
          <p:cNvSpPr txBox="1"/>
          <p:nvPr/>
        </p:nvSpPr>
        <p:spPr>
          <a:xfrm>
            <a:off x="3842646" y="409719"/>
            <a:ext cx="69281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WW32 ‘24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CA1AEC-4ECE-C13A-73C3-7B6B9C8DEC6C}"/>
              </a:ext>
            </a:extLst>
          </p:cNvPr>
          <p:cNvSpPr txBox="1"/>
          <p:nvPr/>
        </p:nvSpPr>
        <p:spPr>
          <a:xfrm>
            <a:off x="6948482" y="409719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WW41 ‘25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AD085-82BA-9E01-CCEE-A584D7C12E88}"/>
              </a:ext>
            </a:extLst>
          </p:cNvPr>
          <p:cNvSpPr txBox="1"/>
          <p:nvPr/>
        </p:nvSpPr>
        <p:spPr>
          <a:xfrm>
            <a:off x="4497121" y="402720"/>
            <a:ext cx="64472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WW51‘24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BE6BDE-684F-92BE-D371-97B4DD65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19813"/>
              </p:ext>
            </p:extLst>
          </p:nvPr>
        </p:nvGraphicFramePr>
        <p:xfrm>
          <a:off x="9585130" y="-134584"/>
          <a:ext cx="2606870" cy="513939"/>
        </p:xfrm>
        <a:graphic>
          <a:graphicData uri="http://schemas.openxmlformats.org/drawingml/2006/table">
            <a:tbl>
              <a:tblPr/>
              <a:tblGrid>
                <a:gridCol w="521374">
                  <a:extLst>
                    <a:ext uri="{9D8B030D-6E8A-4147-A177-3AD203B41FA5}">
                      <a16:colId xmlns:a16="http://schemas.microsoft.com/office/drawing/2014/main" val="1042101967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3774465258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4207536013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999270312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704261440"/>
                    </a:ext>
                  </a:extLst>
                </a:gridCol>
              </a:tblGrid>
              <a:tr h="10611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Intel Clear" panose="020B0604020203020204" pitchFamily="34" charset="0"/>
                        </a:rPr>
                        <a:t>Color Grading Key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397624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Intel Clear" panose="020B0604020203020204" pitchFamily="34" charset="0"/>
                        </a:rPr>
                        <a:t>All Deliverables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Intel Clear" panose="020B0604020203020204" pitchFamily="34" charset="0"/>
                        </a:rPr>
                        <a:t>On Track w/ No Issues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Intel Clear" panose="020B0604020203020204" pitchFamily="34" charset="0"/>
                        </a:rPr>
                        <a:t>On Track w/ Approved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Intel Clear" panose="020B0604020203020204" pitchFamily="34" charset="0"/>
                        </a:rPr>
                        <a:t>Platform at Risk Mitigation Plan WIP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Intel Clear" panose="020B0604020203020204" pitchFamily="34" charset="0"/>
                        </a:rPr>
                        <a:t>Critical Issue(s) w/ NO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02291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At Risk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Blocked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5891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3354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Might Need Help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Help Needed!!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83636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152B809B-4999-D370-569B-538B9A4AD219}"/>
              </a:ext>
            </a:extLst>
          </p:cNvPr>
          <p:cNvSpPr txBox="1"/>
          <p:nvPr/>
        </p:nvSpPr>
        <p:spPr>
          <a:xfrm>
            <a:off x="588135" y="1082690"/>
            <a:ext cx="11168039" cy="1646605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>
                <a:solidFill>
                  <a:schemeClr val="bg1"/>
                </a:solidFill>
              </a:rPr>
              <a:t>Executive Summary.</a:t>
            </a:r>
          </a:p>
          <a:p>
            <a:pPr marL="346075" indent="-17780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/>
              <a:t>The WW30 status is not showing broad engineering concerns; risk is concentrated in manufacturing deployment/material recovery, socket-stack qualification, and thermal model/data closure.</a:t>
            </a:r>
            <a:r>
              <a:rPr lang="en-US" sz="1200" dirty="0"/>
              <a:t> Hardware Engineering and most DCCE domains provide a stable execution base, while Manufacturing Engineering and TME require active management attention.</a:t>
            </a:r>
          </a:p>
          <a:p>
            <a:pPr marL="346075" indent="-177800" defTabSz="2438338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US" sz="1200" b="1" dirty="0"/>
              <a:t>The highest-priority leadership focus should be on preventing near-term schedule slips from material shortages and qualification timing:</a:t>
            </a:r>
            <a:r>
              <a:rPr lang="en-US" sz="1200" dirty="0"/>
              <a:t> Alpha delivery exposure from the PDB resistor shortage, MDP tight-timeline recovery, Lotes socket reliability/TCT closure, and Thermals WW30 LIRA assumptions are the most visible execution-sensitive items.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4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60A97D-29FC-D4CB-4AA1-1DDB5203BBF7}"/>
              </a:ext>
            </a:extLst>
          </p:cNvPr>
          <p:cNvSpPr txBox="1"/>
          <p:nvPr/>
        </p:nvSpPr>
        <p:spPr>
          <a:xfrm>
            <a:off x="511981" y="85252"/>
            <a:ext cx="11205886" cy="6264748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fontAlgn="t">
              <a:spcBef>
                <a:spcPts val="600"/>
              </a:spcBef>
            </a:pPr>
            <a:r>
              <a:rPr lang="en-US" sz="1000" b="1" dirty="0"/>
              <a:t>Data Center Component Engineering</a:t>
            </a:r>
            <a:endParaRPr lang="en-US" sz="7200" dirty="0"/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Overall DCCE execution is controlled, with most domains green; the main technical watch areas remain Power Integrity and Signal Integrity NUDD closure.</a:t>
            </a:r>
            <a:r>
              <a:rPr lang="en-US" sz="1000" dirty="0"/>
              <a:t> CPU Package Development and VRs are green with no major blockers called out; VR validation shows progress through completed Renesas second-source activity, 900W SKU approval with no BRD/VR config change required, and ongoing Intel blue sheet work for </a:t>
            </a:r>
            <a:r>
              <a:rPr lang="en-US" sz="1000" dirty="0" err="1"/>
              <a:t>Joulwatt</a:t>
            </a:r>
            <a:r>
              <a:rPr lang="en-US" sz="1000" dirty="0"/>
              <a:t> telemetry/security review.</a:t>
            </a:r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The key WW30 challenge is residual validation confidence rather than execution breakdown:</a:t>
            </a:r>
            <a:r>
              <a:rPr lang="en-US" sz="1000" dirty="0"/>
              <a:t> Signal Integrity remains yellow on NUDDs due to UCIe needing more electrical validation, while Power Integrity remains yellow on NUDDs because UCC1 VCCANA / IMH2 </a:t>
            </a:r>
            <a:r>
              <a:rPr lang="en-US" sz="1000" dirty="0" err="1"/>
              <a:t>Vmin</a:t>
            </a:r>
            <a:r>
              <a:rPr lang="en-US" sz="1000" dirty="0"/>
              <a:t> excursion risk and VR telemetry fault-injection verification still require closure; VCCIN characterization is ongoing with closure targeted for WW31 and no ES2/LIRA WW31 risk currently anticipated</a:t>
            </a:r>
          </a:p>
          <a:p>
            <a:pPr fontAlgn="t">
              <a:spcBef>
                <a:spcPts val="600"/>
              </a:spcBef>
            </a:pPr>
            <a:r>
              <a:rPr lang="en-US" sz="1000" b="1" dirty="0"/>
              <a:t>Manufacturing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Manufacturing Engineering carries the highest WW30 execution exposure, with orange status in System Deployment and multiple yellow schedule/material signals across RP operations, MDP, Memory, and IHV supply.</a:t>
            </a:r>
            <a:r>
              <a:rPr lang="en-US" sz="1000" dirty="0"/>
              <a:t> System Deployment is orange because Alpha demand is only 65% complete, with 420 units pending from a 1,200-unit Q2’26 commitment, and PDB resistor shortages are expected to stop deliveries starting WW31 with no supplier commitment yet. </a:t>
            </a:r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Progress is visible, but recovery is dependency-heavy:</a:t>
            </a:r>
            <a:r>
              <a:rPr lang="en-US" sz="1000" dirty="0"/>
              <a:t> RP Manufacturing reports PPV builds/shipments on track and ~65% EPS Alpha demand shipped, MDP1 has mitigated WW29 delivery risk through 16 MDP shipments using 2025-version Lotes sockets, and MDP2 remains on track but under tight-timeline monitoring; however, resistor supply, MDP cable/FRU recovery, supplier responsiveness, memory supplier pushes, and OOC/IHV quote/ETA instability remain the main leadership watch items.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Hardware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Hardware Engineering is stable in WW30, with RP HPM/PPV and System Boards green across the current dashboard.</a:t>
            </a:r>
            <a:r>
              <a:rPr lang="en-US" sz="1000" dirty="0"/>
              <a:t> The organization is operating mainly in sustaining, regression closure, CCB evaluation, customer support, and future configuration enablement rather than active program recovery; no major schedule, NUDD, quality, or technical execution blockers are indicated in the WW30 status.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main Hardware Engineering work is tactical closure and readiness for forward programs:</a:t>
            </a:r>
            <a:r>
              <a:rPr lang="en-US" sz="1000" dirty="0"/>
              <a:t> RP HPM/PPV is working with </a:t>
            </a:r>
            <a:r>
              <a:rPr lang="en-US" sz="1000" dirty="0" err="1"/>
              <a:t>Aivres</a:t>
            </a:r>
            <a:r>
              <a:rPr lang="en-US" sz="1000" dirty="0"/>
              <a:t> to close remaining regressions despite </a:t>
            </a:r>
            <a:r>
              <a:rPr lang="en-US" sz="1000" dirty="0" err="1"/>
              <a:t>Aivres</a:t>
            </a:r>
            <a:r>
              <a:rPr lang="en-US" sz="1000" dirty="0"/>
              <a:t> resource delays, evaluating COR-16CH 8S support and AST2700 DCSCM intercepts, while System Boards has resolved the I2C/I3C CEM riser issue and is preparing publication instructions as </a:t>
            </a:r>
            <a:r>
              <a:rPr lang="en-US" sz="1000" dirty="0" err="1"/>
              <a:t>Aivres</a:t>
            </a:r>
            <a:r>
              <a:rPr lang="en-US" sz="1000" dirty="0"/>
              <a:t> continues regression documentation.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Thermal and Mechanical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remains a major WW30 risk area, driven by Socket Stack schedule/resource/quality/NUDD yellow status and Thermals schedule/NUDD/technical execution yellow status.</a:t>
            </a:r>
            <a:r>
              <a:rPr lang="en-US" sz="1000" dirty="0"/>
              <a:t> Socket Stack has zero-week schedule margin to QS-16wk, Lotes socket is lagging due to changes needed to resolve TCT marginality, and long-term reliability findings persist across socket suppliers.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also shows meaningful mitigation progress, but not enough to remove risk:</a:t>
            </a:r>
            <a:r>
              <a:rPr lang="en-US" sz="1000" dirty="0"/>
              <a:t> TE and FIT sockets were recommended to Google for DVT builds and Google is now ungated, LM component testing is 99% complete with final design review targeted by end of August, and cost-reduction work achieved nearly 50% reduction on PEEK ESD101 carriers; however, costs remain ~2.2x target, Lotes post-TCT failures are driving socket body changes, TE post-TCT findings remain under disposition, and Thermals still depends on PTP post-silicon data review and agreement on model assumptions during the WW30 LIRA cycle.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Cloud Systems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Cloud Systems improved to mostly green in WW30, with the remaining issue concentrated in technical execution rather than schedule or resourcing.</a:t>
            </a:r>
            <a:r>
              <a:rPr lang="en-US" sz="1000" dirty="0"/>
              <a:t> EVT is reported as WIP and on track; after silicon pushout, DVT/Fab2 is trending Dec/January’27 and Fab3 May/June’27, while </a:t>
            </a:r>
            <a:r>
              <a:rPr lang="en-US" sz="1000" dirty="0" err="1"/>
              <a:t>eSPI</a:t>
            </a:r>
            <a:r>
              <a:rPr lang="en-US" sz="1000" dirty="0"/>
              <a:t> is now functional after the Intel BKC Advisory WW10 implementation and new HPM CPLD code.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primary Cloud watchout is validation execution continuity:</a:t>
            </a:r>
            <a:r>
              <a:rPr lang="en-US" sz="1000" dirty="0"/>
              <a:t> EVT execution is 16% complete with execution paused because ODM is moving validation activities to Malaysia, with resumption expected by August 10; NUDDs remain tied to architectural differentiators including dual-node BMC, </a:t>
            </a:r>
            <a:r>
              <a:rPr lang="en-US" sz="1000" dirty="0" err="1"/>
              <a:t>flashless</a:t>
            </a:r>
            <a:r>
              <a:rPr lang="en-US" sz="1000" dirty="0"/>
              <a:t> boot, third-party FPGA solution, aggregator board FPGA removal, and 48V/12V input accommodation.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7828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PEA Blu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2">
      <a:majorFont>
        <a:latin typeface="IntelOne Display Regular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ff76fbf-12b9-4337-ad3b-122e2d975ade">
      <UserInfo>
        <DisplayName>Gore, Sarah M</DisplayName>
        <AccountId>30</AccountId>
        <AccountType/>
      </UserInfo>
      <UserInfo>
        <DisplayName>Li, Sensen</DisplayName>
        <AccountId>106</AccountId>
        <AccountType/>
      </UserInfo>
    </SharedWithUsers>
    <Desc xmlns="c8d2899a-522b-4133-a995-d5f5a6478bda">DHE</Desc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024C1D6F1D348851BE254566AE71E" ma:contentTypeVersion="12" ma:contentTypeDescription="Create a new document." ma:contentTypeScope="" ma:versionID="8c03b5b63be3d4602ebd5088aec6bdb3">
  <xsd:schema xmlns:xsd="http://www.w3.org/2001/XMLSchema" xmlns:xs="http://www.w3.org/2001/XMLSchema" xmlns:p="http://schemas.microsoft.com/office/2006/metadata/properties" xmlns:ns2="c8d2899a-522b-4133-a995-d5f5a6478bda" xmlns:ns3="2ff76fbf-12b9-4337-ad3b-122e2d975ade" targetNamespace="http://schemas.microsoft.com/office/2006/metadata/properties" ma:root="true" ma:fieldsID="3942afe12d28b3e6db749c3dcbe1cf3d" ns2:_="" ns3:_="">
    <xsd:import namespace="c8d2899a-522b-4133-a995-d5f5a6478bda"/>
    <xsd:import namespace="2ff76fbf-12b9-4337-ad3b-122e2d975a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Desc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2899a-522b-4133-a995-d5f5a6478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" ma:index="12" ma:displayName="Desc" ma:format="Dropdown" ma:internalName="Desc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76fbf-12b9-4337-ad3b-122e2d975a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54F054-72F1-4A43-A973-9DE9EE637AB3}">
  <ds:schemaRefs>
    <ds:schemaRef ds:uri="2ff76fbf-12b9-4337-ad3b-122e2d975ade"/>
    <ds:schemaRef ds:uri="c8d2899a-522b-4133-a995-d5f5a6478b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AC3408-EB4D-4BEB-BC7F-1585E84A7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2899a-522b-4133-a995-d5f5a6478bda"/>
    <ds:schemaRef ds:uri="2ff76fbf-12b9-4337-ad3b-122e2d975a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6D98AE-628E-4ACA-93F9-C5B003A1690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9410587-2dbf-4cbf-9a99-5d54386da03f}" enabled="1" method="Privileged" siteId="{46c98d88-e344-4ed4-8496-4ed7712e25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968</Words>
  <Application>Microsoft Office PowerPoint</Application>
  <PresentationFormat>Widescreen</PresentationFormat>
  <Paragraphs>70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Helvetica Neue</vt:lpstr>
      <vt:lpstr>Helvetica Neue Medium</vt:lpstr>
      <vt:lpstr>Arial</vt:lpstr>
      <vt:lpstr>Calibri</vt:lpstr>
      <vt:lpstr>Helvetica</vt:lpstr>
      <vt:lpstr>Intel Clear</vt:lpstr>
      <vt:lpstr>IntelOne Display Medium</vt:lpstr>
      <vt:lpstr>IntelOne Display Regular</vt:lpstr>
      <vt:lpstr>IntelOne Text</vt:lpstr>
      <vt:lpstr>Tahoma</vt:lpstr>
      <vt:lpstr>Wingdings</vt:lpstr>
      <vt:lpstr>DPEA Blue</vt:lpstr>
      <vt:lpstr>DHE Product Execution Forum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Nelly.Carrillo@intel.com</dc:creator>
  <cp:keywords>CTPClassification=CTP_NT</cp:keywords>
  <cp:lastModifiedBy>Li, JianwenX</cp:lastModifiedBy>
  <cp:revision>7</cp:revision>
  <dcterms:modified xsi:type="dcterms:W3CDTF">2026-08-18T06:41:35Z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0x010100513024C1D6F1D348851BE254566AE71E</vt:lpwstr>
  </property>
  <property fmtid="{D5CDD505-2E9C-101B-9397-08002B2CF9AE}" pid="9" name="MediaServiceImageTags">
    <vt:lpwstr/>
  </property>
</Properties>
</file>